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embeddedFontLst>
    <p:embeddedFont>
      <p:font typeface="Calibri" panose="020F0502020204030204"/>
      <p:regular r:id="rId16"/>
      <p:bold r:id="rId17"/>
      <p:italic r:id="rId18"/>
      <p:boldItalic r:id="rId19"/>
    </p:embeddedFont>
    <p:embeddedFont>
      <p:font typeface="Share Tech Mono" panose="020B0509050000020004"/>
      <p:regular r:id="rId20"/>
    </p:embeddedFont>
    <p:embeddedFont>
      <p:font typeface="Inter" panose="02000503000000020004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D7E4516-38C6-4143-829D-50402179538B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62187" y="1982092"/>
            <a:ext cx="7667625" cy="28936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690574" y="2572642"/>
            <a:ext cx="6810851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SRC实战：高效资产搜集</a:t>
            </a:r>
            <a:endParaRPr lang="en-US" sz="48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852737" y="3591817"/>
            <a:ext cx="64865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与去重清洗指南 | 打造高产出的漏洞挖掘流水线</a:t>
            </a:r>
            <a:endParaRPr lang="en-US" sz="2100" b="0" i="0" u="none" strike="noStrike" cap="none">
              <a:solidFill>
                <a:srgbClr val="94A3B8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062912" y="4837659"/>
            <a:ext cx="1447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ROOT ACCESS GRANTED</a:t>
            </a:r>
            <a:endParaRPr lang="en-US" sz="1050" b="0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2205930"/>
            <a:ext cx="952500" cy="381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655820" y="2529780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核心理念</a:t>
            </a:r>
            <a:endParaRPr lang="en-US" sz="5400" b="1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167187" y="3634680"/>
            <a:ext cx="38576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Core Concepts &amp; Methodology</a:t>
            </a:r>
            <a:endParaRPr lang="en-US" sz="2100" b="0" i="0" u="none" strike="noStrike" cap="none">
              <a:solidFill>
                <a:srgbClr val="64748B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619750" y="4613820"/>
            <a:ext cx="952500" cy="381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33838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66775" y="24907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漏洞挖掘的本质：</a:t>
            </a: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信息不对称。你掌握的信息越多，发现漏洞的概率越大。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2432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新手的误区：</a:t>
            </a: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拿着主域名 (www.xxx.edu.cn) 死磕。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6909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核心策略：</a:t>
            </a: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寻找边缘资产（测试站、老旧系统、开发者后台），这里是漏洞的重灾区。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866775" y="44434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黄金法则：</a:t>
            </a: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资产越多 = 攻击面越广。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3650" y="2347912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249078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&gt;</a:t>
            </a:r>
            <a:endParaRPr lang="en-US" sz="1500" b="1" i="0" u="none" strike="noStrike" cap="none">
              <a:solidFill>
                <a:srgbClr val="00FF4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3243262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&gt;</a:t>
            </a:r>
            <a:endParaRPr lang="en-US" sz="1500" b="1" i="0" u="none" strike="noStrike" cap="none">
              <a:solidFill>
                <a:srgbClr val="00FF4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369093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&gt;</a:t>
            </a:r>
            <a:endParaRPr lang="en-US" sz="1500" b="1" i="0" u="none" strike="noStrike" cap="none">
              <a:solidFill>
                <a:srgbClr val="00FF4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81025" y="4443412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&gt;</a:t>
            </a:r>
            <a:endParaRPr lang="en-US" sz="1500" b="1" i="0" u="none" strike="noStrike" cap="none">
              <a:solidFill>
                <a:srgbClr val="00FF4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为什么重视资产搜集？</a:t>
            </a:r>
            <a:endParaRPr lang="en-US" sz="36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1699021" y="41481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28575" cap="flat" cmpd="sng">
            <a:solidFill>
              <a:srgbClr val="00FF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566791" y="41481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28575" cap="flat" cmpd="sng">
            <a:solidFill>
              <a:srgbClr val="00FF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7434560" y="41481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28575" cap="flat" cmpd="sng">
            <a:solidFill>
              <a:srgbClr val="00FF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10302329" y="41481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28575" cap="flat" cmpd="sng">
            <a:solidFill>
              <a:srgbClr val="00FF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81025" y="4243387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20362" y="4624387"/>
            <a:ext cx="254781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01. 全量搜集</a:t>
            </a:r>
            <a:endParaRPr lang="en-US" sz="1800" b="1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5081587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Collection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广撒网，抓取所有相关域名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3388131" y="2765226"/>
            <a:ext cx="254781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02. 清洗去重</a:t>
            </a:r>
            <a:endParaRPr lang="en-US" sz="1800" b="1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3448794" y="3222426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Deduplication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合并相似项，减少工作量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255900" y="4624387"/>
            <a:ext cx="254781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03. 存活探测</a:t>
            </a:r>
            <a:endParaRPr lang="en-US" sz="1800" b="1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316563" y="5081587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Alive Check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剔除死链，验证可访问性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9123670" y="2765226"/>
            <a:ext cx="254781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04. 指纹识别</a:t>
            </a:r>
            <a:endParaRPr lang="en-US" sz="1800" b="1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184332" y="3222426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Fingerprinting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识别系统类型，精准打击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资产挖掘四步法 (STANDARD PROCESS)</a:t>
            </a:r>
            <a:endParaRPr lang="en-US" sz="36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2381250"/>
            <a:ext cx="348615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52925" y="2381250"/>
            <a:ext cx="348615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4825" y="2381250"/>
            <a:ext cx="3486150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03910" y="342900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子域名爆破</a:t>
            </a:r>
            <a:endParaRPr lang="en-US" sz="1800" b="1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76300" y="3924300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利用字典猜测常见子域（如 vpn, oa, test）。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核心工具：OneForAll</a:t>
            </a:r>
            <a:endParaRPr lang="en-US" sz="1500" b="1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4575810" y="342900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搜索引擎</a:t>
            </a:r>
            <a:endParaRPr lang="en-US" sz="1800" b="1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4648200" y="392430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Google/Baidu Hacking 语法搜索。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Example: site:edu.cn inurl:login</a:t>
            </a:r>
            <a:endParaRPr lang="en-US" sz="1500" b="1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8347710" y="342900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空间测绘</a:t>
            </a:r>
            <a:endParaRPr lang="en-US" sz="1800" b="1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8420100" y="3924300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直接搜索网络资产特征。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核心平台：Fofa, Hunter, Quake</a:t>
            </a:r>
            <a:endParaRPr lang="en-US" sz="1500" b="1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066925" y="27241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76925" y="2724150"/>
            <a:ext cx="4381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639300" y="27241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第一步：广撒网 (BROAD COLLECTION)</a:t>
            </a:r>
            <a:endParaRPr lang="en-US" sz="36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81025" y="581025"/>
            <a:ext cx="519064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第二步：精去重 (DEDUPLICATION)</a:t>
            </a:r>
            <a:endParaRPr lang="en-US" sz="36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81025" y="1847850"/>
            <a:ext cx="494347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81025" y="2544365"/>
            <a:ext cx="49434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痛点：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搜集到1万个域名，实际上很多指向同一IP，或仅参数不同。不清洗会导致扫描效率低下且易被封IP。</a:t>
            </a:r>
            <a:endParaRPr lang="en-US" sz="1650" b="0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81025" y="3835598"/>
            <a:ext cx="519064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TEXT-LEVEL (文本级)</a:t>
            </a:r>
            <a:endParaRPr lang="en-US" sz="18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81025" y="4311848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去掉完全一样的行，支持增量更新。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工具：Anew</a:t>
            </a:r>
            <a:endParaRPr lang="en-US" sz="1350" b="1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5050928"/>
            <a:ext cx="519064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LOGIC-LEVEL (逻辑级)</a:t>
            </a:r>
            <a:endParaRPr lang="en-US" sz="18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581025" y="5527178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针对URL逻辑去重。保留 id=1 去掉 id=2。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工具：Uro</a:t>
            </a:r>
            <a:endParaRPr lang="en-US" sz="1350" b="1" i="0" u="none" strike="noStrike" cap="none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905000"/>
            <a:ext cx="5276850" cy="420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905000"/>
            <a:ext cx="5276850" cy="42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971550" y="2295525"/>
            <a:ext cx="24384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存活探测 (ALIVE CHECK)</a:t>
            </a:r>
            <a:endParaRPr lang="en-US" sz="1405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971550" y="2638425"/>
            <a:ext cx="23223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971550" y="3028950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目标：</a:t>
            </a: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只保留 HTTP 状态码为 200 (正常), 302 (跳转), 403 (禁止访问) 的资产。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971550" y="382905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$ cat subs.txt | httpx -mc 200,302,403</a:t>
            </a:r>
            <a:endParaRPr lang="en-US" sz="1500" b="0" i="0" u="none" strike="noStrike" cap="none">
              <a:solidFill>
                <a:srgbClr val="94A3B8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971550" y="432435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神器：Httpx</a:t>
            </a: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- 速度极快，Go语言编写。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724650" y="2295525"/>
            <a:ext cx="273846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指纹识别 (FINGERPRINTING)</a:t>
            </a:r>
            <a:endParaRPr lang="en-US" sz="1405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724650" y="2638425"/>
            <a:ext cx="260806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6724650" y="3028950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目标：</a:t>
            </a: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知己知彼。识别 Web 容器、开发框架、CMS 类型。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6724650" y="52197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神器：Ehole, Goby</a:t>
            </a:r>
            <a:endParaRPr lang="en-US" sz="1500" b="1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1550" y="2324100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724650" y="2324100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010400" y="3829050"/>
            <a:ext cx="4210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Shiro 框架 -&gt; 反序列化漏洞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7010400" y="4276725"/>
            <a:ext cx="4210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WebLogic -&gt; SSRF / RCE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7010400" y="4724400"/>
            <a:ext cx="4210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通用教务系统 -&gt; 历史 N-day</a:t>
            </a:r>
            <a:endParaRPr lang="en-US" sz="15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6724650" y="382905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&gt;</a:t>
            </a:r>
            <a:endParaRPr lang="en-US" sz="1500" b="1" i="0" u="none" strike="noStrike" cap="none">
              <a:solidFill>
                <a:srgbClr val="00FF4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724650" y="42767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&gt;</a:t>
            </a:r>
            <a:endParaRPr lang="en-US" sz="1500" b="1" i="0" u="none" strike="noStrike" cap="none">
              <a:solidFill>
                <a:srgbClr val="00FF4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724650" y="472440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4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&gt;</a:t>
            </a:r>
            <a:endParaRPr lang="en-US" sz="1500" b="1" i="0" u="none" strike="noStrike" cap="none">
              <a:solidFill>
                <a:srgbClr val="00FF4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第三步 &amp; 第四步：探测与识别</a:t>
            </a:r>
            <a:endParaRPr lang="en-US" sz="36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p20"/>
          <p:cNvGraphicFramePr/>
          <p:nvPr/>
        </p:nvGraphicFramePr>
        <p:xfrm>
          <a:off x="2524125" y="1909762"/>
          <a:ext cx="7143750" cy="4191075"/>
        </p:xfrm>
        <a:graphic>
          <a:graphicData uri="http://schemas.openxmlformats.org/drawingml/2006/table">
            <a:tbl>
              <a:tblPr firstRow="1" bandRow="1">
                <a:noFill/>
                <a:tableStyleId>{0D7E4516-38C6-4143-829D-50402179538B}</a:tableStyleId>
              </a:tblPr>
              <a:tblGrid>
                <a:gridCol w="2028825"/>
                <a:gridCol w="1781175"/>
                <a:gridCol w="3333750"/>
              </a:tblGrid>
              <a:tr h="5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阶段 (Phase)</a:t>
                      </a:r>
                      <a:endParaRPr lang="en-US" sz="1500" b="1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工具名称 (Tool)</a:t>
                      </a:r>
                      <a:endParaRPr lang="en-US" sz="1500" b="1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核心用途 (Core Use)</a:t>
                      </a:r>
                      <a:endParaRPr lang="en-US" sz="1500" b="1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41"/>
                    </a:solidFill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搜集 (Collection)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OneForAll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子域名自动化搜集大满贯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搜集 (Collection)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Fofa / Hunter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网络空间资产测绘，发现边缘资产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去重 (Dedup)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Uro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URL参数逻辑去重，提升扫描效率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去重 (Dedup)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Anew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列表合并与增量去重，长期维护必备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探测 (Probe)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Httpx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高并发存活验证 + Web指纹探测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扫描 (Scan)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Xray / Goby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Share Tech Mono" panose="020B0509050000020004"/>
                          <a:ea typeface="Share Tech Mono" panose="020B0509050000020004"/>
                          <a:cs typeface="Share Tech Mono" panose="020B0509050000020004"/>
                          <a:sym typeface="Share Tech Mono" panose="020B0509050000020004"/>
                        </a:rPr>
                        <a:t>被动式漏洞扫描 / 资产可视化</a:t>
                      </a:r>
                      <a:endParaRPr lang="en-US" sz="1500" b="0" i="0" u="none" strike="noStrike" cap="none">
                        <a:solidFill>
                          <a:schemeClr val="tx1"/>
                        </a:solidFill>
                        <a:latin typeface="Share Tech Mono" panose="020B0509050000020004"/>
                        <a:ea typeface="Share Tech Mono" panose="020B0509050000020004"/>
                        <a:cs typeface="Share Tech Mono" panose="020B0509050000020004"/>
                        <a:sym typeface="Share Tech Mono" panose="020B050905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20"/>
          <p:cNvSpPr/>
          <p:nvPr/>
        </p:nvSpPr>
        <p:spPr>
          <a:xfrm>
            <a:off x="2524125" y="3086100"/>
            <a:ext cx="20288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552950" y="3086100"/>
            <a:ext cx="17811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334125" y="3086100"/>
            <a:ext cx="3333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2524125" y="3686175"/>
            <a:ext cx="20288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552950" y="3686175"/>
            <a:ext cx="17811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334125" y="3686175"/>
            <a:ext cx="3333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524125" y="4286250"/>
            <a:ext cx="20288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552950" y="4286250"/>
            <a:ext cx="17811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334125" y="4286250"/>
            <a:ext cx="3333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2524125" y="4886325"/>
            <a:ext cx="20288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552950" y="4886325"/>
            <a:ext cx="17811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334125" y="4886325"/>
            <a:ext cx="3333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2524125" y="5486400"/>
            <a:ext cx="20288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552950" y="5486400"/>
            <a:ext cx="17811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334125" y="5486400"/>
            <a:ext cx="3333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524125" y="6086475"/>
            <a:ext cx="20288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552950" y="6086475"/>
            <a:ext cx="17811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6334125" y="6086475"/>
            <a:ext cx="3333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41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实战工具箱 (THE TOOLKIT)</a:t>
            </a:r>
            <a:endParaRPr lang="en-US" sz="3600" b="1" i="0" u="none" strike="noStrike" cap="none">
              <a:solidFill>
                <a:srgbClr val="00FF41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81025" y="13335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2376487" y="2158454"/>
            <a:ext cx="7820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Share Tech Mono" panose="020B0509050000020004"/>
                <a:ea typeface="Share Tech Mono" panose="020B0509050000020004"/>
                <a:cs typeface="Share Tech Mono" panose="020B0509050000020004"/>
                <a:sym typeface="Share Tech Mono" panose="020B0509050000020004"/>
              </a:rPr>
              <a:t>安全红线：授权、无损、止步、保密。</a:t>
            </a:r>
            <a:endParaRPr lang="en-US" sz="3600" b="0" i="0" u="none" strike="noStrike" cap="none">
              <a:solidFill>
                <a:srgbClr val="FFFFFF"/>
              </a:solidFill>
              <a:latin typeface="Share Tech Mono" panose="020B0509050000020004"/>
              <a:ea typeface="Share Tech Mono" panose="020B0509050000020004"/>
              <a:cs typeface="Share Tech Mono" panose="020B0509050000020004"/>
              <a:sym typeface="Share Tech Mono" panose="020B0509050000020004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995487" y="2158454"/>
            <a:ext cx="47625" cy="609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995487" y="3053804"/>
            <a:ext cx="8201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EF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—— 职业道德准则</a:t>
            </a:r>
            <a:endParaRPr lang="en-US" sz="1800" b="0" i="1" u="none" strike="noStrike" cap="none">
              <a:solidFill>
                <a:srgbClr val="EF4444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995487" y="3739604"/>
            <a:ext cx="82010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严禁进行 DoS 攻击、严禁删除/修改数据。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发现 Shell 或数据库入口后，截图即止，立即报告。</a:t>
            </a:r>
            <a:endParaRPr lang="en-US" sz="18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WPS 演示</Application>
  <PresentationFormat/>
  <Paragraphs>150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Share Tech Mono</vt:lpstr>
      <vt:lpstr>Inter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fjh1997</cp:lastModifiedBy>
  <cp:revision>1</cp:revision>
  <dcterms:created xsi:type="dcterms:W3CDTF">2026-01-06T11:46:37Z</dcterms:created>
  <dcterms:modified xsi:type="dcterms:W3CDTF">2026-01-06T11:46:38Z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B4E1C695052E4037969487036D59B1B7_12</vt:lpwstr>
  </property>
  <property fmtid="{D5CDD505-2E9C-101B-9397-08002B2CF9AE}" pid="3" name="KSOProductBuildVer">
    <vt:lpwstr>2052-12.1.0.24034</vt:lpwstr>
  </property>
</Properties>
</file>